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94560"/>
            <a:ext cx="5943600" cy="5943600"/>
          </a:xfrm>
          <a:prstGeom prst="ellipse">
            <a:avLst/>
          </a:prstGeom>
          <a:solidFill>
            <a:srgbClr val="0A5453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0E6E6D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TFT · 베타 서비스 오픈 브리핑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SCM 통합 대시보드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기능과 사용법 한눈에 보기 — 무엇이 해결됐고, 무엇이 아직 남았는가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2026-07-24</a:t>
            </a:r>
            <a:pPr indent="0" marL="0">
              <a:buNone/>
            </a:pPr>
            <a:r>
              <a:rPr lang="en-US" sz="1300" dirty="0">
                <a:solidFill>
                  <a:srgbClr val="AEB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SCM실 구매전략파트 · 외주생산파트   ·   발표 이난영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이야기할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업무 방식 → 대시보드가 바꾼 것 → 지금 조심할 것 → 아직 못한 것, 순서로 설명드립니다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52060" cy="1298448"/>
          </a:xfrm>
          <a:prstGeom prst="roundRect">
            <a:avLst>
              <a:gd name="adj" fmla="val 5634"/>
            </a:avLst>
          </a:prstGeom>
          <a:solidFill>
            <a:srgbClr val="F6F8F7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20824"/>
            <a:ext cx="640080" cy="640080"/>
          </a:xfrm>
          <a:prstGeom prst="ellipse">
            <a:avLst/>
          </a:prstGeom>
          <a:solidFill>
            <a:srgbClr val="0E6E6D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20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892808"/>
            <a:ext cx="38176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만들었나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313432"/>
            <a:ext cx="3817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그동안 업무 중 부딪혔던 어려움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12180" y="1691640"/>
            <a:ext cx="5052060" cy="1298448"/>
          </a:xfrm>
          <a:prstGeom prst="roundRect">
            <a:avLst>
              <a:gd name="adj" fmla="val 5634"/>
            </a:avLst>
          </a:prstGeom>
          <a:solidFill>
            <a:srgbClr val="F6F8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68212" y="2020824"/>
            <a:ext cx="640080" cy="640080"/>
          </a:xfrm>
          <a:prstGeom prst="ellipse">
            <a:avLst/>
          </a:prstGeom>
          <a:solidFill>
            <a:srgbClr val="0E6E6D"/>
          </a:solidFill>
          <a:ln/>
        </p:spPr>
      </p:sp>
      <p:sp>
        <p:nvSpPr>
          <p:cNvPr id="11" name="Text 9"/>
          <p:cNvSpPr/>
          <p:nvPr/>
        </p:nvSpPr>
        <p:spPr>
          <a:xfrm>
            <a:off x="6268212" y="2020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63740" y="1892808"/>
            <a:ext cx="38176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한눈에 보기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63740" y="2313432"/>
            <a:ext cx="3817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규모와 갱신 체계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91256"/>
            <a:ext cx="5052060" cy="1298448"/>
          </a:xfrm>
          <a:prstGeom prst="roundRect">
            <a:avLst>
              <a:gd name="adj" fmla="val 5634"/>
            </a:avLst>
          </a:prstGeom>
          <a:solidFill>
            <a:srgbClr val="F6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96112" y="3520440"/>
            <a:ext cx="640080" cy="640080"/>
          </a:xfrm>
          <a:prstGeom prst="ellipse">
            <a:avLst/>
          </a:prstGeom>
          <a:solidFill>
            <a:srgbClr val="0E6E6D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3392424"/>
            <a:ext cx="38176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기능별 Before → After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3813048"/>
            <a:ext cx="3817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화면별로 무엇이 해결됐는지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12180" y="3191256"/>
            <a:ext cx="5052060" cy="1298448"/>
          </a:xfrm>
          <a:prstGeom prst="roundRect">
            <a:avLst>
              <a:gd name="adj" fmla="val 5634"/>
            </a:avLst>
          </a:prstGeom>
          <a:solidFill>
            <a:srgbClr val="F6F8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8212" y="3520440"/>
            <a:ext cx="640080" cy="640080"/>
          </a:xfrm>
          <a:prstGeom prst="ellipse">
            <a:avLst/>
          </a:prstGeom>
          <a:solidFill>
            <a:srgbClr val="0E6E6D"/>
          </a:solidFill>
          <a:ln/>
        </p:spPr>
      </p:sp>
      <p:sp>
        <p:nvSpPr>
          <p:cNvPr id="21" name="Text 19"/>
          <p:cNvSpPr/>
          <p:nvPr/>
        </p:nvSpPr>
        <p:spPr>
          <a:xfrm>
            <a:off x="6268212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63740" y="3392424"/>
            <a:ext cx="38176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전 꼭 알아야 할 것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63740" y="3813048"/>
            <a:ext cx="3817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주의사항 · 보안 · 데이터 한계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690872"/>
            <a:ext cx="5052060" cy="1298448"/>
          </a:xfrm>
          <a:prstGeom prst="roundRect">
            <a:avLst>
              <a:gd name="adj" fmla="val 5634"/>
            </a:avLst>
          </a:prstGeom>
          <a:solidFill>
            <a:srgbClr val="F6F8F7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5020056"/>
            <a:ext cx="640080" cy="640080"/>
          </a:xfrm>
          <a:prstGeom prst="ellipse">
            <a:avLst/>
          </a:prstGeom>
          <a:solidFill>
            <a:srgbClr val="0E6E6D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5020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91640" y="4892040"/>
            <a:ext cx="38176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이번엔 못한 것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91640" y="5312664"/>
            <a:ext cx="3817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밖 한계와 차기 계획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12180" y="4690872"/>
            <a:ext cx="5052060" cy="1298448"/>
          </a:xfrm>
          <a:prstGeom prst="roundRect">
            <a:avLst>
              <a:gd name="adj" fmla="val 5634"/>
            </a:avLst>
          </a:prstGeom>
          <a:solidFill>
            <a:srgbClr val="F6F8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268212" y="5020056"/>
            <a:ext cx="640080" cy="640080"/>
          </a:xfrm>
          <a:prstGeom prst="ellipse">
            <a:avLst/>
          </a:prstGeom>
          <a:solidFill>
            <a:srgbClr val="0E6E6D"/>
          </a:solidFill>
          <a:ln/>
        </p:spPr>
      </p:sp>
      <p:sp>
        <p:nvSpPr>
          <p:cNvPr id="31" name="Text 29"/>
          <p:cNvSpPr/>
          <p:nvPr/>
        </p:nvSpPr>
        <p:spPr>
          <a:xfrm>
            <a:off x="6268212" y="5020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63740" y="4892040"/>
            <a:ext cx="38176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&amp; 다음 단계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63740" y="5312664"/>
            <a:ext cx="3817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팀에 요청드리는 것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814255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통합 대시보드 · 베타 서비스 브리핑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3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왜 만들었나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지금까지는 이렇게 일했습니다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01952"/>
            <a:ext cx="118872" cy="118872"/>
          </a:xfrm>
          <a:prstGeom prst="ellipse">
            <a:avLst/>
          </a:prstGeom>
          <a:solidFill>
            <a:srgbClr val="4FB3B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09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협력사 실적·이슈를 보려면 에어테이블에서 조건을 다시 걸고, 화면 여러 개를 오가며 손으로 대조해서 자료를 만들었습니다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118872" cy="118872"/>
          </a:xfrm>
          <a:prstGeom prst="ellipse">
            <a:avLst/>
          </a:prstGeom>
          <a:solidFill>
            <a:srgbClr val="4FB3B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511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검수에서 놓친 불량이 얼마나 되는지, 이슈가 어느 협력사 탓인지 — 정리된 숫자 자체가 없어 감으로 판단했습니다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584448"/>
            <a:ext cx="118872" cy="118872"/>
          </a:xfrm>
          <a:prstGeom prst="ellipse">
            <a:avLst/>
          </a:prstGeom>
          <a:solidFill>
            <a:srgbClr val="4FB3B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3924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협력사 방문 우선순위, 발주 여유분(버퍼) 판단은 담당자 경험과 감에 의존했습니다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425696"/>
            <a:ext cx="118872" cy="118872"/>
          </a:xfrm>
          <a:prstGeom prst="ellipse">
            <a:avLst/>
          </a:prstGeom>
          <a:solidFill>
            <a:srgbClr val="4FB3B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336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리드타임·단가 같은 반복 문의가 오면, 슬랙을 검색해서 예전에 누가 뭐라고 답했는지 다시 찾아야 했습니다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5266944"/>
            <a:ext cx="118872" cy="118872"/>
          </a:xfrm>
          <a:prstGeom prst="ellipse">
            <a:avLst/>
          </a:prstGeom>
          <a:solidFill>
            <a:srgbClr val="4FB3B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50749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보고서는 매주 여러 데이터를 손으로 다시 취합해서 작성했습니다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14255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통합 대시보드 · 베타 서비스 브리핑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대시보드 한눈에 보기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6주 만에 이만큼 만들어졌습니다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446020" cy="1737360"/>
          </a:xfrm>
          <a:prstGeom prst="roundRect">
            <a:avLst>
              <a:gd name="adj" fmla="val 4211"/>
            </a:avLst>
          </a:prstGeom>
          <a:solidFill>
            <a:srgbClr val="EAF3F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11096"/>
            <a:ext cx="2446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54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2560320"/>
            <a:ext cx="2226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화면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926080"/>
            <a:ext cx="2226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대분류로 정리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0420" y="1691640"/>
            <a:ext cx="2446020" cy="1737360"/>
          </a:xfrm>
          <a:prstGeom prst="roundRect">
            <a:avLst>
              <a:gd name="adj" fmla="val 4211"/>
            </a:avLst>
          </a:prstGeom>
          <a:solidFill>
            <a:srgbClr val="F6F8F7"/>
          </a:solidFill>
          <a:ln/>
        </p:spPr>
      </p:sp>
      <p:sp>
        <p:nvSpPr>
          <p:cNvPr id="9" name="Text 7"/>
          <p:cNvSpPr/>
          <p:nvPr/>
        </p:nvSpPr>
        <p:spPr>
          <a:xfrm>
            <a:off x="3360420" y="1911096"/>
            <a:ext cx="2446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54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29종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0148" y="2560320"/>
            <a:ext cx="2226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 데이터 소스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70148" y="2926080"/>
            <a:ext cx="2226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임베딩 JSON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691640"/>
            <a:ext cx="2446020" cy="1737360"/>
          </a:xfrm>
          <a:prstGeom prst="roundRect">
            <a:avLst>
              <a:gd name="adj" fmla="val 4211"/>
            </a:avLst>
          </a:prstGeom>
          <a:solidFill>
            <a:srgbClr val="F6F8F7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1911096"/>
            <a:ext cx="2446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54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 1회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90488" y="2560320"/>
            <a:ext cx="2226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데이터 갱신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90488" y="2926080"/>
            <a:ext cx="2226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목요일 13:00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01100" y="1691640"/>
            <a:ext cx="2446020" cy="1737360"/>
          </a:xfrm>
          <a:prstGeom prst="roundRect">
            <a:avLst>
              <a:gd name="adj" fmla="val 4211"/>
            </a:avLst>
          </a:prstGeom>
          <a:solidFill>
            <a:srgbClr val="F6F8F7"/>
          </a:solidFill>
          <a:ln/>
        </p:spPr>
      </p:sp>
      <p:sp>
        <p:nvSpPr>
          <p:cNvPr id="17" name="Text 15"/>
          <p:cNvSpPr/>
          <p:nvPr/>
        </p:nvSpPr>
        <p:spPr>
          <a:xfrm>
            <a:off x="8801100" y="1911096"/>
            <a:ext cx="2446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54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37개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910828" y="2560320"/>
            <a:ext cx="2226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배포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910828" y="2926080"/>
            <a:ext cx="22265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6주간(v4.0 → v23.3)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10607040" cy="1508760"/>
          </a:xfrm>
          <a:prstGeom prst="roundRect">
            <a:avLst>
              <a:gd name="adj" fmla="val 4848"/>
            </a:avLst>
          </a:prstGeom>
          <a:solidFill>
            <a:srgbClr val="EAF3F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접속하나요?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3708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링크 하나로 팀 전체가 접속하는 웹페이지입니다. 별도 설치나 로그인 없이 브라우저 주소창에 링크만 입력하면 됩니다. 데이터는 CSV 파일을 자동으로 읽어 화면을 채웁니다.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48280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https://nanyounglee.github.io/SCMDASHBOARD/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사이드바 8개 대분류 —  대시보드 / 구매전략·S&amp;OP 재고운영 / 외주생산·발주 현황 / 외주생산·이슈 현황 / 외주생산·공급망 현황 / 구매조달·매출 분석 / 구매조달·KPI / 운영 서비스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통합 대시보드 · 베타 서비스 브리핑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기능별 Before → After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현황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692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매번 화면을 새로 만들지 않아도, 열면 바로 보입니다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561320" y="502920"/>
            <a:ext cx="566928" cy="566928"/>
          </a:xfrm>
          <a:prstGeom prst="ellipse">
            <a:avLst/>
          </a:prstGeom>
          <a:solidFill>
            <a:srgbClr val="EAF3F2"/>
          </a:solidFill>
          <a:ln/>
        </p:spPr>
      </p:sp>
      <p:sp>
        <p:nvSpPr>
          <p:cNvPr id="6" name="Text 4"/>
          <p:cNvSpPr/>
          <p:nvPr/>
        </p:nvSpPr>
        <p:spPr>
          <a:xfrm>
            <a:off x="105613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F8E7E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35915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KPI를 보려면 에어테이블 뷰 조건을 매번 다시 걸어서 확인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2918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전년 동기·전월 대비 증감은 별도로 계산해야 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261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22452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졸업·출시·품절·협력사 변경 같은 소식은 흩어져 있어 놓치기 쉬움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89320" y="173736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E6F2E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대시보드가 해결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359152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KPI 5종을 열자마자 확인 — 전년 동기·전월 대비 자동 표시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2918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주/월/분기/기간지정 4가지 방식으로 원하는 기간만 골라 보기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4261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22452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달 졸업·출시·품절·협력사 변경 이력을 자동으로 모아 보여줌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14255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통합 대시보드 · 베타 서비스 브리핑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기능별 Before → After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구매전략 · 재고운영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692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재고가 바닥나기 전에, 먼저 알려드립니다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561320" y="502920"/>
            <a:ext cx="566928" cy="566928"/>
          </a:xfrm>
          <a:prstGeom prst="ellipse">
            <a:avLst/>
          </a:prstGeom>
          <a:solidFill>
            <a:srgbClr val="EAF3F2"/>
          </a:solidFill>
          <a:ln/>
        </p:spPr>
      </p:sp>
      <p:sp>
        <p:nvSpPr>
          <p:cNvPr id="6" name="Text 4"/>
          <p:cNvSpPr/>
          <p:nvPr/>
        </p:nvSpPr>
        <p:spPr>
          <a:xfrm>
            <a:off x="105613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F8E7E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35915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소진이 임박한지 뒤늦게 파악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2918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발주 타이밍은 담당자 경험과 감으로 판단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261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22452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품절·장기 미회전 재고를 따로 찾아봐야 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89320" y="173736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E6F2E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대시보드가 해결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359152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재고자산·회전율·품절율을 자동 계산, 운영밴드로 한눈에 확인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2918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EOQ(경제적 발주량) 발주알람 — 발주가 필요한 SKU를 미리 표시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4261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22452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품절 상세·졸업 검토(판매 종료 후보)를 화면에서 바로 확인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55321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EOQ 파라미터 일부(발주비용·보관비율)는 업계 통상 가정값이며 사내 실측치 아님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14255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통합 대시보드 · 베타 서비스 브리핑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기능별 Before → After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외주생산 · 발주 현황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692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원가가 기준을 넘었는지, 자동으로 대조합니다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561320" y="502920"/>
            <a:ext cx="566928" cy="566928"/>
          </a:xfrm>
          <a:prstGeom prst="ellipse">
            <a:avLst/>
          </a:prstGeom>
          <a:solidFill>
            <a:srgbClr val="EAF3F2"/>
          </a:solidFill>
          <a:ln/>
        </p:spPr>
      </p:sp>
      <p:sp>
        <p:nvSpPr>
          <p:cNvPr id="6" name="Text 4"/>
          <p:cNvSpPr/>
          <p:nvPr/>
        </p:nvSpPr>
        <p:spPr>
          <a:xfrm>
            <a:off x="105613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F8E7E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35915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매입금액이 적정 원가보다 높은지 파츠 단가를 일일이 대조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2918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여분(버퍼)을 얼마나 발주해야 할지 근거 없이 관행대로 결정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261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22452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발주 패턴(대형 발주·특정 시즌 집중)은 따로 정리한 적 없음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89320" y="173736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E6F2E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대시보드가 해결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359152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DB원가비교 — 파츠 표준단가 합산 대비 실제 매입금액 절감율 자동 계산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2918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여분(버퍼) 추천 — 예방비용 vs 실패비용을 금액으로 정량 대조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4261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22452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발주 패턴 카드 — 건당 평균 발주량·빅딜 기준·집중 발주 시즌 표시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55321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여분 투자 효과는 고객주문 사수 56건 실증 데이터로 검증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14255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통합 대시보드 · 베타 서비스 브리핑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기능별 Before → After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외주생산 · 이슈 현황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692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“놓친 불량이 얼마나 되는지” — 처음으로 숫자가 나왔습니다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561320" y="502920"/>
            <a:ext cx="566928" cy="566928"/>
          </a:xfrm>
          <a:prstGeom prst="ellipse">
            <a:avLst/>
          </a:prstGeom>
          <a:solidFill>
            <a:srgbClr val="EAF3F2"/>
          </a:solidFill>
          <a:ln/>
        </p:spPr>
      </p:sp>
      <p:sp>
        <p:nvSpPr>
          <p:cNvPr id="6" name="Text 4"/>
          <p:cNvSpPr/>
          <p:nvPr/>
        </p:nvSpPr>
        <p:spPr>
          <a:xfrm>
            <a:off x="105613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F8E7E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35915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검수에서 놓치는 불량 비율이라는 개념 자체가 없었음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2918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이슈가 어느 협력사 탓인지 수작업으로 대조·추정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261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22452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이슈가 반복되는지 체계적으로 추적하지 않음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89320" y="173736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E6F2E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대시보드가 해결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359152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유출률 75% — 최초로 정량화(판정 가능 134건 중 유출 101건)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2918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→ 협력사 정확 귀속률 95.6%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4261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22452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이슈 116개 조합 자동 추적(2개년 연속 41건 포함)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14255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통합 대시보드 · 베타 서비스 브리핑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기능별 Before → After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외주생산 · 공급망 현황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692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 달, 어느 협력사부터 만나야 할지 알려줍니다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561320" y="502920"/>
            <a:ext cx="566928" cy="566928"/>
          </a:xfrm>
          <a:prstGeom prst="ellipse">
            <a:avLst/>
          </a:prstGeom>
          <a:solidFill>
            <a:srgbClr val="EAF3F2"/>
          </a:solidFill>
          <a:ln/>
        </p:spPr>
      </p:sp>
      <p:sp>
        <p:nvSpPr>
          <p:cNvPr id="6" name="Text 4"/>
          <p:cNvSpPr/>
          <p:nvPr/>
        </p:nvSpPr>
        <p:spPr>
          <a:xfrm>
            <a:off x="105613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F8E7E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35915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협력사 관리 우선순위를 정하는 기준이 없었음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2918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협력사를 방문·점검해야 할지는 그때그때 판단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261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22452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협력사 QCD(품질·원가·납기)·관계 수준을 한눈에 보기 어려움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89320" y="173736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E6F2E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대시보드가 해결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359152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QCD × 관계 Tier 4분면 — Core/Performer/Developing/General 자동 분류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2918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“이번 달 방문 추천 협력사” 신규 — 이슈 급증·매입 급변·품절·단가상승· 신제품 출시 사유와 함께 추천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4261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22452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협력사 상세 PDF 리포트 2종을 클릭 한 번으로 생성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14255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통합 대시보드 · 베타 서비스 브리핑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기능별 Before → After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서비스 · AI 어시스턴트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692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예전 답변을 다시 찾는 시간을 줄여줍니다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561320" y="502920"/>
            <a:ext cx="566928" cy="566928"/>
          </a:xfrm>
          <a:prstGeom prst="ellipse">
            <a:avLst/>
          </a:prstGeom>
          <a:solidFill>
            <a:srgbClr val="EAF3F2"/>
          </a:solidFill>
          <a:ln/>
        </p:spPr>
      </p:sp>
      <p:sp>
        <p:nvSpPr>
          <p:cNvPr id="6" name="Text 4"/>
          <p:cNvSpPr/>
          <p:nvPr/>
        </p:nvSpPr>
        <p:spPr>
          <a:xfrm>
            <a:off x="105613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F8E7E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35915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리드타임·단가 문의가 오면 슬랙을 검색해 예전 답변을 다시 찾음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2918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정의서를 찾으려면 에어테이블에서 제품명으로 직접 검색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261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22452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문의 이력이 뿔뿔이 흩어져 있어 재확인이 번거로움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89320" y="173736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E6F2E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대시보드가 해결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359152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제품명을 인식해 제품 정의서 링크를 자동으로 연결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2918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리드타임·단가 관련 과거 문의·답변 중 최신 3건을 바로 표시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4261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22452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3,000여 건의 문의 이력(Check_standard 데이터)과 연동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55321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실시간 슬랙 검색은 미지원 — 정적 웹페이지 구조상 토큰 노출 위험 때문(CSV 기반 방식 채택)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14255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통합 대시보드 · 베타 서비스 브리핑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기능별 Before → After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서비스 · 리포트 생성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692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주간 보고서 초안, 버튼 하나로 만듭니다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561320" y="502920"/>
            <a:ext cx="566928" cy="566928"/>
          </a:xfrm>
          <a:prstGeom prst="ellipse">
            <a:avLst/>
          </a:prstGeom>
          <a:solidFill>
            <a:srgbClr val="EAF3F2"/>
          </a:solidFill>
          <a:ln/>
        </p:spPr>
      </p:sp>
      <p:sp>
        <p:nvSpPr>
          <p:cNvPr id="6" name="Text 4"/>
          <p:cNvSpPr/>
          <p:nvPr/>
        </p:nvSpPr>
        <p:spPr>
          <a:xfrm>
            <a:off x="1056132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F8E7E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35915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보고서는 매주 여러 데이터를 손으로 다시 취합해서 작성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2918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우선적으로 챙겨야 할 이슈(연속 판매 0, 장기 미회전 등)를 매번 눈으로 훑어서 판단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173736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E6F2E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대시보드가 해결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2359152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구매전략파트·외주생산파트 주간 보고 .md 파일을 버튼 한 번으로 다운로드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2918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 판매 0 · 장기 미회전 · 판매 급감 · 품절 장기화 등을 규칙 기반으로 자동 판정, 우선순위(🔴🟠🟡)까지 표시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55321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특이사항 메모만 직접 입력하면 나머지 섹션은 자동으로 채워짐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14255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통합 대시보드 · 베타 서비스 브리핑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C6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사용 전 꼭 알아야 할 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베타 기간, 이 점은 꼭 유의해 주세요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607040" cy="841248"/>
          </a:xfrm>
          <a:prstGeom prst="roundRect">
            <a:avLst>
              <a:gd name="adj" fmla="val 7609"/>
            </a:avLst>
          </a:prstGeom>
          <a:solidFill>
            <a:srgbClr val="FBF0D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55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719072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6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지금은 접근 통제가 없는 공개 링크입니다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08760" y="2029968"/>
            <a:ext cx="9555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공개 URL로 서비스 중이라 발주액·원가 등 원본 데이터가 외부에 노출될 수 있습니다. 이 링크를 협력사나 외부에 절대 공유하지 마세요 — 보안 조치를 검토 중입니다.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10607040" cy="841248"/>
          </a:xfrm>
          <a:prstGeom prst="roundRect">
            <a:avLst>
              <a:gd name="adj" fmla="val 7609"/>
            </a:avLst>
          </a:prstGeom>
          <a:solidFill>
            <a:srgbClr val="FBF0DD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688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265176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6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 매주 목요일 13시에 자동 갱신됩니다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08760" y="2962656"/>
            <a:ext cx="9555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급하게 최신 데이터를 반영하고 싶을 땐 상단 “지금 새로고침” 버튼을 누르면 1~3분 내 반영됩니다.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493008"/>
            <a:ext cx="10607040" cy="841248"/>
          </a:xfrm>
          <a:prstGeom prst="roundRect">
            <a:avLst>
              <a:gd name="adj" fmla="val 7609"/>
            </a:avLst>
          </a:prstGeom>
          <a:solidFill>
            <a:srgbClr val="FBF0DD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6210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358444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6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매입검토·시즌재고계획은 아직 정식 저장이 아닙니다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508760" y="3895344"/>
            <a:ext cx="9555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화면과 업로드 자리는 있지만 저장은 개인 브라우저 임시값입니다. 운영 원본은 계속 구글시트에서 관리해 주세요.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10607040" cy="841248"/>
          </a:xfrm>
          <a:prstGeom prst="roundRect">
            <a:avLst>
              <a:gd name="adj" fmla="val 7609"/>
            </a:avLst>
          </a:prstGeom>
          <a:solidFill>
            <a:srgbClr val="F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553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4517136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6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협력사 마스터가 실제 거래 현황을 100% 못 따라가고 있습니다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08760" y="4828032"/>
            <a:ext cx="9555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거래는 있으나 마스터에 아직 미등록인 협력사가 있어, 화면에 일부 협력사가 안 보일 수 있습니다(Airtable 등록 정비 중).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358384"/>
            <a:ext cx="10607040" cy="841248"/>
          </a:xfrm>
          <a:prstGeom prst="roundRect">
            <a:avLst>
              <a:gd name="adj" fmla="val 7609"/>
            </a:avLst>
          </a:prstGeom>
          <a:solidFill>
            <a:srgbClr val="FBF0DD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5486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08760" y="5449824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6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명이 동시에 저장해도 이제 안전합니다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08760" y="5760720"/>
            <a:ext cx="9555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v23부터 저장 직전 최신 내용을 다시 받아 병합하는 방식으로 바뀌어, 동시 편집으로 덮어쓰는 사고가 방지됩니다.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814255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통합 대시보드 · 베타 서비스 브리핑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이번엔 못한 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 범위에서 구현하지 못한 한계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8E7E2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92808"/>
            <a:ext cx="457200" cy="54864"/>
          </a:xfrm>
          <a:prstGeom prst="rect">
            <a:avLst/>
          </a:prstGeom>
          <a:solidFill>
            <a:srgbClr val="9C3A2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39112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전사 프로세스 미포함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624328"/>
            <a:ext cx="2935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매출·수요계획(앞단)과 검수 이후 임가공·고객납품(뒷단) 데이터가 없어, 현재 제조원가 수치는 오차 범위가 큽니다.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33672" y="169164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8E7E2"/>
          </a:solidFill>
          <a:ln/>
        </p:spPr>
      </p:sp>
      <p:sp>
        <p:nvSpPr>
          <p:cNvPr id="9" name="Shape 7"/>
          <p:cNvSpPr/>
          <p:nvPr/>
        </p:nvSpPr>
        <p:spPr>
          <a:xfrm>
            <a:off x="4434840" y="1892808"/>
            <a:ext cx="457200" cy="54864"/>
          </a:xfrm>
          <a:prstGeom prst="rect">
            <a:avLst/>
          </a:prstGeom>
          <a:solidFill>
            <a:srgbClr val="9C3A26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039112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예방·예측 지표 없음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34840" y="2624328"/>
            <a:ext cx="2935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지표는 100% 사후 집계입니다. 문제를 미리 알려주는 선행 경고 지표는 아직 없습니다.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27264" y="1691640"/>
            <a:ext cx="3337560" cy="1965960"/>
          </a:xfrm>
          <a:prstGeom prst="roundRect">
            <a:avLst>
              <a:gd name="adj" fmla="val 3721"/>
            </a:avLst>
          </a:prstGeom>
          <a:solidFill>
            <a:srgbClr val="F8E7E2"/>
          </a:solidFill>
          <a:ln/>
        </p:spPr>
      </p:sp>
      <p:sp>
        <p:nvSpPr>
          <p:cNvPr id="13" name="Shape 11"/>
          <p:cNvSpPr/>
          <p:nvPr/>
        </p:nvSpPr>
        <p:spPr>
          <a:xfrm>
            <a:off x="8028432" y="1892808"/>
            <a:ext cx="457200" cy="54864"/>
          </a:xfrm>
          <a:prstGeom prst="rect">
            <a:avLst/>
          </a:prstGeom>
          <a:solidFill>
            <a:srgbClr val="9C3A26"/>
          </a:solidFill>
          <a:ln/>
        </p:spPr>
      </p:sp>
      <p:sp>
        <p:nvSpPr>
          <p:cNvPr id="14" name="Text 12"/>
          <p:cNvSpPr/>
          <p:nvPr/>
        </p:nvSpPr>
        <p:spPr>
          <a:xfrm>
            <a:off x="8028432" y="2039112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분류체계·안전재고 기준 부재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28432" y="2624328"/>
            <a:ext cx="2935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직접제조/협력사 소유/협력사 상시재고 활용, 3가지 구분 기준이 없어 “협력사 상시 재고 파악 대상”을 시스템이 못 가려냅니다.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5175504" cy="1691640"/>
          </a:xfrm>
          <a:prstGeom prst="roundRect">
            <a:avLst>
              <a:gd name="adj" fmla="val 4324"/>
            </a:avLst>
          </a:prstGeom>
          <a:solidFill>
            <a:srgbClr val="F8E7E2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" y="4041648"/>
            <a:ext cx="457200" cy="54864"/>
          </a:xfrm>
          <a:prstGeom prst="rect">
            <a:avLst/>
          </a:prstGeom>
          <a:solidFill>
            <a:srgbClr val="9C3A2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187952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IQC 전수검사·CAPA 미구축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4626864"/>
            <a:ext cx="4773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 품질검사·시정예방조치 체계는 설계까지는 끝났고 실행은 차기로 넘어갑니다.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71616" y="3840480"/>
            <a:ext cx="5175504" cy="1691640"/>
          </a:xfrm>
          <a:prstGeom prst="roundRect">
            <a:avLst>
              <a:gd name="adj" fmla="val 4324"/>
            </a:avLst>
          </a:prstGeom>
          <a:solidFill>
            <a:srgbClr val="F8E7E2"/>
          </a:solidFill>
          <a:ln/>
        </p:spPr>
      </p:sp>
      <p:sp>
        <p:nvSpPr>
          <p:cNvPr id="21" name="Shape 19"/>
          <p:cNvSpPr/>
          <p:nvPr/>
        </p:nvSpPr>
        <p:spPr>
          <a:xfrm>
            <a:off x="6272784" y="4041648"/>
            <a:ext cx="457200" cy="54864"/>
          </a:xfrm>
          <a:prstGeom prst="rect">
            <a:avLst/>
          </a:prstGeom>
          <a:solidFill>
            <a:srgbClr val="9C3A26"/>
          </a:solidFill>
          <a:ln/>
        </p:spPr>
      </p:sp>
      <p:sp>
        <p:nvSpPr>
          <p:cNvPr id="22" name="Text 20"/>
          <p:cNvSpPr/>
          <p:nvPr/>
        </p:nvSpPr>
        <p:spPr>
          <a:xfrm>
            <a:off x="6272784" y="4187952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웹페이지 구조의 한계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72784" y="4626864"/>
            <a:ext cx="4773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양방향 입력이 불편하고(개인 브라우저 임시저장), 접근 통제가 없습니다. 로그인 기반 웹앱 전환이 차기 과제입니다.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814255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통합 대시보드 · 베타 서비스 브리핑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C6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이번엔 못한 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화면은 있지만, 데이터가 정비 안 돼 못 채운 항목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아래는 전부 차기 프로젝트 범위로 편입됩니다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607040" cy="4206240"/>
        </p:xfrm>
        <a:graphic>
          <a:graphicData uri="http://schemas.openxmlformats.org/drawingml/2006/table">
            <a:tbl>
              <a:tblPr/>
              <a:tblGrid>
                <a:gridCol w="3383280"/>
                <a:gridCol w="7223760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4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상태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453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매입 검토 · 시즌재고 계획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4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화면·업로드 자리만 존재 — 저장은 개인 브라우저 임시값, 운영 원본은 구글시트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입고예정금액 KPI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4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카드 자리만 확보 — 입고예정 데이터 미연결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협력사 소유 재고 · 품절 현황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4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수집 채널 자체가 없어 미구현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재고 회전율 산식 검증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4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구글시트 사전집계 값을 그대로 표시 — 기존 시스템과 산식 일치 여부 미검증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매출·마진 분석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4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수동 업로드 근사치라 신뢰 낮아 메뉴 축소(원가 분석 내 제한 제공)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제조원가 완결성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4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검수·임가공·고객납품 비용 미포함 — 오차 범위 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814255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통합 대시보드 · 베타 서비스 브리핑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질문 &amp; 다음 단계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팀에 요청드리는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F6F8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75688"/>
            <a:ext cx="640080" cy="640080"/>
          </a:xfrm>
          <a:prstGeom prst="ellipse">
            <a:avLst/>
          </a:prstGeom>
          <a:solidFill>
            <a:srgbClr val="0E6E6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75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1929384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써보고 이상한 부분은 캡처해서 알려주세요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37360" y="2359152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숫자가 안 맞거나 화면이 이상하면 담당자에게 캡처로 제보 — 지금까지도 이렇게 여러 버그를 빠르게 고쳤습니다.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163824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F6F8F7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456432"/>
            <a:ext cx="640080" cy="640080"/>
          </a:xfrm>
          <a:prstGeom prst="ellipse">
            <a:avLst/>
          </a:prstGeom>
          <a:solidFill>
            <a:srgbClr val="0E6E6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56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331012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링크는 사내에서만 공유해 주세요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3739896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지금은 접근 통제가 없는 공개 링크입니다 (§04 참고) — 외부·협력사 공유는 삼가주세요.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544568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F6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837176"/>
            <a:ext cx="640080" cy="640080"/>
          </a:xfrm>
          <a:prstGeom prst="ellipse">
            <a:avLst/>
          </a:prstGeom>
          <a:solidFill>
            <a:srgbClr val="0E6E6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371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469087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소유구분·IQC 등 신규 데이터 입력에 협조 부탁드립니다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37360" y="5120640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차기 프로젝트(2027.3~) 착수를 앞당기려면, 지금부터 쌓이는 데이터가 초기 학습 데이터가 됩니다.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971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차기 프로젝트(2027.3~2027.8) — “기록·조회” 대시보드에서 “예방·예측·협업” 플랫폼으로 확장을 별도로 논의 중입니다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814255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통합 대시보드 · 베타 서비스 브리핑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23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486400" cy="5486400"/>
          </a:xfrm>
          <a:prstGeom prst="ellipse">
            <a:avLst/>
          </a:prstGeom>
          <a:solidFill>
            <a:srgbClr val="0A5453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3337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질문과 피드백은 언제든 환영합니다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E2761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2062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https://nanyounglee.github.io/SCMDASHBOARD/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SCM실 구매전략파트 · 외주생산파트   ·   2026-07-24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2026-07-24T02:48:25Z</dcterms:created>
  <dcterms:modified xsi:type="dcterms:W3CDTF">2026-07-24T02:48:25Z</dcterms:modified>
</cp:coreProperties>
</file>